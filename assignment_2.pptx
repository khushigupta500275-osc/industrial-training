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725C32-0121-4063-B386-4932E9474330}" v="38" dt="2026-06-16T14:37:22.8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10" autoAdjust="0"/>
    <p:restoredTop sz="94660"/>
  </p:normalViewPr>
  <p:slideViewPr>
    <p:cSldViewPr snapToGrid="0" snapToObjects="1">
      <p:cViewPr varScale="1">
        <p:scale>
          <a:sx n="66" d="100"/>
          <a:sy n="66" d="100"/>
        </p:scale>
        <p:origin x="48"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85000" lnSpcReduction="20000"/>
          </a:bodyPr>
          <a:lstStyle/>
          <a:p>
            <a:pPr>
              <a:buNone/>
            </a:pPr>
            <a:r>
              <a:rPr dirty="0"/>
              <a:t>1. What is a conditional statement in programming?</a:t>
            </a:r>
            <a:endParaRPr lang="en-US" dirty="0"/>
          </a:p>
          <a:p>
            <a:pPr>
              <a:buNone/>
            </a:pPr>
            <a:r>
              <a:rPr lang="en-IN" dirty="0">
                <a:solidFill>
                  <a:schemeClr val="accent4">
                    <a:lumMod val="60000"/>
                    <a:lumOff val="40000"/>
                  </a:schemeClr>
                </a:solidFill>
              </a:rPr>
              <a:t>Conditional statement in programming is a statement that allows program to make decisions based on a condition.</a:t>
            </a:r>
          </a:p>
          <a:p>
            <a:pPr>
              <a:buNone/>
            </a:pPr>
            <a:r>
              <a:rPr lang="en-IN" dirty="0">
                <a:solidFill>
                  <a:schemeClr val="accent4">
                    <a:lumMod val="60000"/>
                    <a:lumOff val="40000"/>
                  </a:schemeClr>
                </a:solidFill>
              </a:rPr>
              <a:t>Types are</a:t>
            </a:r>
          </a:p>
          <a:p>
            <a:pPr>
              <a:buNone/>
            </a:pPr>
            <a:r>
              <a:rPr lang="en-IN" dirty="0">
                <a:solidFill>
                  <a:schemeClr val="accent4">
                    <a:lumMod val="60000"/>
                    <a:lumOff val="40000"/>
                  </a:schemeClr>
                </a:solidFill>
              </a:rPr>
              <a:t>☻ simple if</a:t>
            </a:r>
          </a:p>
          <a:p>
            <a:pPr>
              <a:buNone/>
            </a:pPr>
            <a:r>
              <a:rPr lang="en-IN" dirty="0">
                <a:solidFill>
                  <a:schemeClr val="accent4">
                    <a:lumMod val="60000"/>
                    <a:lumOff val="40000"/>
                  </a:schemeClr>
                </a:solidFill>
              </a:rPr>
              <a:t>☻if-else</a:t>
            </a:r>
          </a:p>
          <a:p>
            <a:pPr>
              <a:buNone/>
            </a:pPr>
            <a:r>
              <a:rPr lang="en-IN" dirty="0">
                <a:solidFill>
                  <a:schemeClr val="accent4">
                    <a:lumMod val="60000"/>
                    <a:lumOff val="40000"/>
                  </a:schemeClr>
                </a:solidFill>
              </a:rPr>
              <a:t>☻nested if</a:t>
            </a:r>
          </a:p>
          <a:p>
            <a:pPr>
              <a:buNone/>
            </a:pPr>
            <a:r>
              <a:rPr lang="en-IN" dirty="0">
                <a:solidFill>
                  <a:schemeClr val="accent4">
                    <a:lumMod val="60000"/>
                    <a:lumOff val="40000"/>
                  </a:schemeClr>
                </a:solidFill>
              </a:rPr>
              <a:t>☻if-else-if</a:t>
            </a:r>
          </a:p>
          <a:p>
            <a:pPr>
              <a:buNone/>
            </a:pPr>
            <a:r>
              <a:rPr lang="en-IN" dirty="0">
                <a:solidFill>
                  <a:schemeClr val="accent4">
                    <a:lumMod val="60000"/>
                    <a:lumOff val="40000"/>
                  </a:schemeClr>
                </a:solidFill>
              </a:rPr>
              <a:t>☻switch</a:t>
            </a:r>
          </a:p>
          <a:p>
            <a:pPr>
              <a:buNone/>
            </a:pPr>
            <a:r>
              <a:rPr lang="en-IN" dirty="0">
                <a:solidFill>
                  <a:schemeClr val="accent4">
                    <a:lumMod val="60000"/>
                    <a:lumOff val="40000"/>
                  </a:schemeClr>
                </a:solidFill>
              </a:rPr>
              <a:t>☻conditional (ternary) operator </a:t>
            </a:r>
            <a:endParaRPr dirty="0">
              <a:solidFill>
                <a:schemeClr val="accent4">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 What does an if statement do?</a:t>
            </a:r>
            <a:endParaRPr lang="en-US" dirty="0">
              <a:solidFill>
                <a:schemeClr val="accent4">
                  <a:lumMod val="60000"/>
                  <a:lumOff val="40000"/>
                </a:schemeClr>
              </a:solidFill>
            </a:endParaRPr>
          </a:p>
          <a:p>
            <a:r>
              <a:rPr lang="en-IN" dirty="0">
                <a:solidFill>
                  <a:schemeClr val="accent4">
                    <a:lumMod val="60000"/>
                    <a:lumOff val="40000"/>
                  </a:schemeClr>
                </a:solidFill>
              </a:rPr>
              <a:t>It is a decision making statement in c/</a:t>
            </a:r>
            <a:r>
              <a:rPr lang="en-IN" dirty="0" err="1">
                <a:solidFill>
                  <a:schemeClr val="accent4">
                    <a:lumMod val="60000"/>
                    <a:lumOff val="40000"/>
                  </a:schemeClr>
                </a:solidFill>
              </a:rPr>
              <a:t>c++</a:t>
            </a:r>
            <a:r>
              <a:rPr lang="en-IN" dirty="0">
                <a:solidFill>
                  <a:schemeClr val="accent4">
                    <a:lumMod val="60000"/>
                    <a:lumOff val="40000"/>
                  </a:schemeClr>
                </a:solidFill>
              </a:rPr>
              <a:t> that checks whether a condition is true or false.</a:t>
            </a:r>
            <a:endParaRPr lang="en-US" dirty="0">
              <a:solidFill>
                <a:schemeClr val="accent4">
                  <a:lumMod val="60000"/>
                  <a:lumOff val="40000"/>
                </a:schemeClr>
              </a:solidFill>
            </a:endParaRP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 What is the purpose of an else block?</a:t>
            </a:r>
            <a:endParaRPr lang="en-US" dirty="0">
              <a:solidFill>
                <a:schemeClr val="accent4">
                  <a:lumMod val="60000"/>
                  <a:lumOff val="40000"/>
                </a:schemeClr>
              </a:solidFill>
            </a:endParaRPr>
          </a:p>
          <a:p>
            <a:r>
              <a:rPr lang="en-IN" dirty="0">
                <a:solidFill>
                  <a:schemeClr val="accent4">
                    <a:lumMod val="60000"/>
                    <a:lumOff val="40000"/>
                  </a:schemeClr>
                </a:solidFill>
              </a:rPr>
              <a:t>The else block is used to execute the block of code when the condition is false.</a:t>
            </a:r>
            <a:endParaRPr dirty="0">
              <a:solidFill>
                <a:schemeClr val="accent4">
                  <a:lumMod val="60000"/>
                  <a:lumOff val="4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4. When is an else block executed?</a:t>
            </a:r>
            <a:endParaRPr lang="en-US" dirty="0"/>
          </a:p>
          <a:p>
            <a:r>
              <a:rPr lang="en-IN" dirty="0">
                <a:solidFill>
                  <a:schemeClr val="accent4">
                    <a:lumMod val="60000"/>
                    <a:lumOff val="40000"/>
                  </a:schemeClr>
                </a:solidFill>
              </a:rPr>
              <a:t>Else block is executed when the condition in the corresponding if statement is false.</a:t>
            </a:r>
            <a:endParaRPr dirty="0">
              <a:solidFill>
                <a:schemeClr val="accent4">
                  <a:lumMod val="60000"/>
                  <a:lumOff val="4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5. What is a Boolean expression?</a:t>
            </a:r>
            <a:endParaRPr lang="en-US" dirty="0"/>
          </a:p>
          <a:p>
            <a:r>
              <a:rPr lang="en-IN" dirty="0">
                <a:solidFill>
                  <a:schemeClr val="accent4">
                    <a:lumMod val="60000"/>
                    <a:lumOff val="40000"/>
                  </a:schemeClr>
                </a:solidFill>
              </a:rPr>
              <a:t>A Boolean statement is an expression that evaluates to only two possible values</a:t>
            </a:r>
          </a:p>
          <a:p>
            <a:r>
              <a:rPr lang="en-IN" dirty="0">
                <a:solidFill>
                  <a:schemeClr val="accent4">
                    <a:lumMod val="60000"/>
                    <a:lumOff val="40000"/>
                  </a:schemeClr>
                </a:solidFill>
              </a:rPr>
              <a:t>True</a:t>
            </a:r>
          </a:p>
          <a:p>
            <a:r>
              <a:rPr lang="en-IN" dirty="0">
                <a:solidFill>
                  <a:schemeClr val="accent4">
                    <a:lumMod val="60000"/>
                    <a:lumOff val="40000"/>
                  </a:schemeClr>
                </a:solidFill>
              </a:rPr>
              <a:t>False</a:t>
            </a:r>
          </a:p>
          <a:p>
            <a:r>
              <a:rPr lang="en-IN" dirty="0">
                <a:solidFill>
                  <a:schemeClr val="accent4">
                    <a:lumMod val="60000"/>
                    <a:lumOff val="40000"/>
                  </a:schemeClr>
                </a:solidFill>
              </a:rPr>
              <a:t> </a:t>
            </a:r>
            <a:endParaRPr dirty="0">
              <a:solidFill>
                <a:schemeClr val="accent4">
                  <a:lumMod val="60000"/>
                  <a:lumOff val="4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6. Write the syntax of a simple if statement</a:t>
            </a:r>
            <a:endParaRPr lang="en-US" dirty="0"/>
          </a:p>
          <a:p>
            <a:r>
              <a:rPr lang="en-IN" dirty="0">
                <a:solidFill>
                  <a:schemeClr val="accent4">
                    <a:lumMod val="60000"/>
                    <a:lumOff val="40000"/>
                  </a:schemeClr>
                </a:solidFill>
              </a:rPr>
              <a:t>If (condition)</a:t>
            </a:r>
          </a:p>
          <a:p>
            <a:r>
              <a:rPr lang="en-IN" dirty="0">
                <a:solidFill>
                  <a:schemeClr val="accent4">
                    <a:lumMod val="60000"/>
                    <a:lumOff val="40000"/>
                  </a:schemeClr>
                </a:solidFill>
              </a:rPr>
              <a:t>{</a:t>
            </a:r>
            <a:br>
              <a:rPr lang="en-IN" dirty="0">
                <a:solidFill>
                  <a:schemeClr val="accent4">
                    <a:lumMod val="60000"/>
                    <a:lumOff val="40000"/>
                  </a:schemeClr>
                </a:solidFill>
              </a:rPr>
            </a:br>
            <a:r>
              <a:rPr lang="en-IN" dirty="0">
                <a:solidFill>
                  <a:schemeClr val="accent4">
                    <a:lumMod val="60000"/>
                    <a:lumOff val="40000"/>
                  </a:schemeClr>
                </a:solidFill>
              </a:rPr>
              <a:t>  //statements to be executed</a:t>
            </a:r>
          </a:p>
          <a:p>
            <a:r>
              <a:rPr lang="en-IN" dirty="0">
                <a:solidFill>
                  <a:schemeClr val="accent4">
                    <a:lumMod val="60000"/>
                    <a:lumOff val="40000"/>
                  </a:schemeClr>
                </a:solidFill>
              </a:rPr>
              <a:t>}</a:t>
            </a: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7. What operator is commonly used to test equality?</a:t>
            </a:r>
            <a:endParaRPr lang="en-US" dirty="0"/>
          </a:p>
          <a:p>
            <a:r>
              <a:rPr lang="en-IN" dirty="0">
                <a:solidFill>
                  <a:schemeClr val="accent4">
                    <a:lumMod val="60000"/>
                    <a:lumOff val="40000"/>
                  </a:schemeClr>
                </a:solidFill>
              </a:rPr>
              <a:t>Equality operator (==) is used to test whether</a:t>
            </a:r>
          </a:p>
          <a:p>
            <a:pPr marL="0" indent="0">
              <a:buNone/>
            </a:pPr>
            <a:r>
              <a:rPr lang="en-IN" dirty="0">
                <a:solidFill>
                  <a:schemeClr val="accent4">
                    <a:lumMod val="60000"/>
                    <a:lumOff val="40000"/>
                  </a:schemeClr>
                </a:solidFill>
              </a:rPr>
              <a:t>two values are equal in c/</a:t>
            </a:r>
            <a:r>
              <a:rPr lang="en-IN" dirty="0" err="1">
                <a:solidFill>
                  <a:schemeClr val="accent4">
                    <a:lumMod val="60000"/>
                    <a:lumOff val="40000"/>
                  </a:schemeClr>
                </a:solidFill>
              </a:rPr>
              <a:t>c++</a:t>
            </a:r>
            <a:r>
              <a:rPr lang="en-IN" dirty="0">
                <a:solidFill>
                  <a:schemeClr val="accent4">
                    <a:lumMod val="60000"/>
                    <a:lumOff val="40000"/>
                  </a:schemeClr>
                </a:solidFill>
              </a:rPr>
              <a:t> </a:t>
            </a:r>
            <a:endParaRPr dirty="0">
              <a:solidFill>
                <a:schemeClr val="accent4">
                  <a:lumMod val="60000"/>
                  <a:lumOff val="4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8. What does the modulus (%) operator return?</a:t>
            </a:r>
            <a:endParaRPr lang="en-US" dirty="0">
              <a:solidFill>
                <a:schemeClr val="accent4">
                  <a:lumMod val="60000"/>
                  <a:lumOff val="40000"/>
                </a:schemeClr>
              </a:solidFill>
            </a:endParaRPr>
          </a:p>
          <a:p>
            <a:r>
              <a:rPr lang="en-IN" dirty="0">
                <a:solidFill>
                  <a:schemeClr val="accent4">
                    <a:lumMod val="60000"/>
                    <a:lumOff val="40000"/>
                  </a:schemeClr>
                </a:solidFill>
              </a:rPr>
              <a:t>Modulus operator returns the remainder when one integer is divided by another .</a:t>
            </a:r>
            <a:endParaRPr dirty="0">
              <a:solidFill>
                <a:schemeClr val="accent4">
                  <a:lumMod val="60000"/>
                  <a:lumOff val="4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9. How can you check if a number is even?</a:t>
            </a:r>
            <a:endParaRPr lang="en-US" dirty="0"/>
          </a:p>
          <a:p>
            <a:r>
              <a:rPr lang="en-IN" dirty="0">
                <a:solidFill>
                  <a:schemeClr val="accent4">
                    <a:lumMod val="60000"/>
                    <a:lumOff val="40000"/>
                  </a:schemeClr>
                </a:solidFill>
              </a:rPr>
              <a:t>A number will be even if it leaves a remainder of 0 when divided by 2.</a:t>
            </a:r>
            <a:endParaRPr dirty="0">
              <a:solidFill>
                <a:schemeClr val="accent4">
                  <a:lumMod val="60000"/>
                  <a:lumOff val="4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10. How can you check if a number is odd?</a:t>
            </a:r>
            <a:endParaRPr lang="en-US" dirty="0"/>
          </a:p>
          <a:p>
            <a:r>
              <a:rPr lang="en-IN" dirty="0">
                <a:solidFill>
                  <a:schemeClr val="accent4">
                    <a:lumMod val="60000"/>
                    <a:lumOff val="40000"/>
                  </a:schemeClr>
                </a:solidFill>
              </a:rPr>
              <a:t>A number is said to be odd if it leaves a remainder when divided by 2.</a:t>
            </a:r>
            <a:endParaRPr dirty="0">
              <a:solidFill>
                <a:schemeClr val="accent4">
                  <a:lumMod val="60000"/>
                  <a:lumOff val="4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11. What is the purpose of else-if?</a:t>
            </a:r>
            <a:endParaRPr lang="en-US" dirty="0"/>
          </a:p>
          <a:p>
            <a:r>
              <a:rPr lang="en-IN" dirty="0">
                <a:solidFill>
                  <a:schemeClr val="accent4">
                    <a:lumMod val="60000"/>
                    <a:lumOff val="40000"/>
                  </a:schemeClr>
                </a:solidFill>
              </a:rPr>
              <a:t>The main purpose is to check </a:t>
            </a:r>
            <a:endParaRPr lang="en-US" dirty="0">
              <a:solidFill>
                <a:schemeClr val="accent4">
                  <a:lumMod val="60000"/>
                  <a:lumOff val="40000"/>
                </a:schemeClr>
              </a:solidFill>
            </a:endParaRPr>
          </a:p>
          <a:p>
            <a:pPr marL="0" indent="0">
              <a:buNone/>
            </a:pPr>
            <a:r>
              <a:rPr lang="en-US" dirty="0">
                <a:solidFill>
                  <a:schemeClr val="accent4">
                    <a:lumMod val="60000"/>
                    <a:lumOff val="40000"/>
                  </a:schemeClr>
                </a:solidFill>
              </a:rPr>
              <a:t>Multiple conditions one after another.</a:t>
            </a:r>
          </a:p>
          <a:p>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12. What is a nested if statement?</a:t>
            </a:r>
            <a:endParaRPr lang="en-US" dirty="0"/>
          </a:p>
          <a:p>
            <a:r>
              <a:rPr lang="en-IN" dirty="0">
                <a:solidFill>
                  <a:schemeClr val="accent4">
                    <a:lumMod val="60000"/>
                    <a:lumOff val="40000"/>
                  </a:schemeClr>
                </a:solidFill>
              </a:rPr>
              <a:t>A nested if statement is an if statement placed inside another if statement .</a:t>
            </a:r>
            <a:endParaRPr dirty="0">
              <a:solidFill>
                <a:schemeClr val="accent4">
                  <a:lumMod val="60000"/>
                  <a:lumOff val="4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13. Can an if statement exist without an else?</a:t>
            </a:r>
            <a:endParaRPr lang="en-US" dirty="0"/>
          </a:p>
          <a:p>
            <a:r>
              <a:rPr lang="en-IN" dirty="0">
                <a:solidFill>
                  <a:schemeClr val="accent4">
                    <a:lumMod val="60000"/>
                    <a:lumOff val="40000"/>
                  </a:schemeClr>
                </a:solidFill>
              </a:rPr>
              <a:t>Yes if statement can exist without an else statement.</a:t>
            </a:r>
            <a:endParaRPr dirty="0">
              <a:solidFill>
                <a:schemeClr val="accent4">
                  <a:lumMod val="60000"/>
                  <a:lumOff val="4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14. What is the output when a false condition is tested in an if statement without else?</a:t>
            </a:r>
            <a:endParaRPr lang="en-US" dirty="0"/>
          </a:p>
          <a:p>
            <a:r>
              <a:rPr lang="en-IN" dirty="0">
                <a:solidFill>
                  <a:schemeClr val="accent4">
                    <a:lumMod val="60000"/>
                    <a:lumOff val="40000"/>
                  </a:schemeClr>
                </a:solidFill>
              </a:rPr>
              <a:t>When a </a:t>
            </a:r>
            <a:r>
              <a:rPr lang="en-IN" b="1" dirty="0">
                <a:solidFill>
                  <a:schemeClr val="accent4">
                    <a:lumMod val="60000"/>
                    <a:lumOff val="40000"/>
                  </a:schemeClr>
                </a:solidFill>
              </a:rPr>
              <a:t>false condition</a:t>
            </a:r>
            <a:r>
              <a:rPr lang="en-IN" dirty="0">
                <a:solidFill>
                  <a:schemeClr val="accent4">
                    <a:lumMod val="60000"/>
                    <a:lumOff val="40000"/>
                  </a:schemeClr>
                </a:solidFill>
              </a:rPr>
              <a:t> is tested in an if statement </a:t>
            </a:r>
            <a:r>
              <a:rPr lang="en-IN" b="1" dirty="0">
                <a:solidFill>
                  <a:schemeClr val="accent4">
                    <a:lumMod val="60000"/>
                    <a:lumOff val="40000"/>
                  </a:schemeClr>
                </a:solidFill>
              </a:rPr>
              <a:t>without an else block</a:t>
            </a:r>
            <a:r>
              <a:rPr lang="en-IN" dirty="0">
                <a:solidFill>
                  <a:schemeClr val="accent4">
                    <a:lumMod val="60000"/>
                    <a:lumOff val="40000"/>
                  </a:schemeClr>
                </a:solidFill>
              </a:rPr>
              <a:t>, the statements inside the if block are </a:t>
            </a:r>
            <a:r>
              <a:rPr lang="en-IN" b="1" dirty="0">
                <a:solidFill>
                  <a:schemeClr val="accent4">
                    <a:lumMod val="60000"/>
                    <a:lumOff val="40000"/>
                  </a:schemeClr>
                </a:solidFill>
              </a:rPr>
              <a:t>not executed</a:t>
            </a:r>
            <a:r>
              <a:rPr lang="en-IN" dirty="0">
                <a:solidFill>
                  <a:schemeClr val="accent4">
                    <a:lumMod val="60000"/>
                    <a:lumOff val="40000"/>
                  </a:schemeClr>
                </a:solidFill>
              </a:rPr>
              <a:t>. The program simply skips the if block and continues with the next statement.</a:t>
            </a:r>
          </a:p>
          <a:p>
            <a:endParaRPr dirty="0">
              <a:solidFill>
                <a:schemeClr val="accent4">
                  <a:lumMod val="60000"/>
                  <a:lumOff val="4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15. What is the role of braces {} in C/C++ conditionals?</a:t>
            </a:r>
            <a:endParaRPr lang="en-US" dirty="0"/>
          </a:p>
          <a:p>
            <a:r>
              <a:rPr lang="en-IN" dirty="0">
                <a:solidFill>
                  <a:schemeClr val="accent4">
                    <a:lumMod val="60000"/>
                    <a:lumOff val="40000"/>
                  </a:schemeClr>
                </a:solidFill>
              </a:rPr>
              <a:t>Braces {} are used to </a:t>
            </a:r>
            <a:r>
              <a:rPr lang="en-IN" b="1" dirty="0">
                <a:solidFill>
                  <a:schemeClr val="accent4">
                    <a:lumMod val="60000"/>
                    <a:lumOff val="40000"/>
                  </a:schemeClr>
                </a:solidFill>
              </a:rPr>
              <a:t>group multiple statements into a single block</a:t>
            </a:r>
            <a:r>
              <a:rPr lang="en-IN" dirty="0">
                <a:solidFill>
                  <a:schemeClr val="accent4">
                    <a:lumMod val="60000"/>
                    <a:lumOff val="40000"/>
                  </a:schemeClr>
                </a:solidFill>
              </a:rPr>
              <a:t> in conditional statements such as if, else, and else if.</a:t>
            </a:r>
          </a:p>
          <a:p>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16. What does &gt; mean?</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&gt; (greater than)</a:t>
            </a:r>
            <a:r>
              <a:rPr lang="en-IN" dirty="0">
                <a:solidFill>
                  <a:schemeClr val="accent4">
                    <a:lumMod val="60000"/>
                    <a:lumOff val="40000"/>
                  </a:schemeClr>
                </a:solidFill>
              </a:rPr>
              <a:t> operator is a </a:t>
            </a:r>
            <a:r>
              <a:rPr lang="en-IN" b="1" dirty="0">
                <a:solidFill>
                  <a:schemeClr val="accent4">
                    <a:lumMod val="60000"/>
                    <a:lumOff val="40000"/>
                  </a:schemeClr>
                </a:solidFill>
              </a:rPr>
              <a:t>relational operator</a:t>
            </a:r>
            <a:r>
              <a:rPr lang="en-IN" dirty="0">
                <a:solidFill>
                  <a:schemeClr val="accent4">
                    <a:lumMod val="60000"/>
                    <a:lumOff val="40000"/>
                  </a:schemeClr>
                </a:solidFill>
              </a:rPr>
              <a:t> used to compare two values.</a:t>
            </a:r>
          </a:p>
          <a:p>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17. What does &lt; mean?</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&lt; (less than)</a:t>
            </a:r>
            <a:r>
              <a:rPr lang="en-IN" dirty="0">
                <a:solidFill>
                  <a:schemeClr val="accent4">
                    <a:lumMod val="60000"/>
                    <a:lumOff val="40000"/>
                  </a:schemeClr>
                </a:solidFill>
              </a:rPr>
              <a:t> operator is a </a:t>
            </a:r>
            <a:r>
              <a:rPr lang="en-IN" b="1" dirty="0">
                <a:solidFill>
                  <a:schemeClr val="accent4">
                    <a:lumMod val="60000"/>
                    <a:lumOff val="40000"/>
                  </a:schemeClr>
                </a:solidFill>
              </a:rPr>
              <a:t>relational operator</a:t>
            </a:r>
            <a:r>
              <a:rPr lang="en-IN" dirty="0">
                <a:solidFill>
                  <a:schemeClr val="accent4">
                    <a:lumMod val="60000"/>
                    <a:lumOff val="40000"/>
                  </a:schemeClr>
                </a:solidFill>
              </a:rPr>
              <a:t> used to compare two values.</a:t>
            </a:r>
          </a:p>
          <a:p>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18. What does &gt;= mean?</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&gt;= (greater than or equal to)</a:t>
            </a:r>
            <a:r>
              <a:rPr lang="en-IN" dirty="0">
                <a:solidFill>
                  <a:schemeClr val="accent4">
                    <a:lumMod val="60000"/>
                    <a:lumOff val="40000"/>
                  </a:schemeClr>
                </a:solidFill>
              </a:rPr>
              <a:t> operator is a </a:t>
            </a:r>
            <a:r>
              <a:rPr lang="en-IN" b="1" dirty="0">
                <a:solidFill>
                  <a:schemeClr val="accent4">
                    <a:lumMod val="60000"/>
                    <a:lumOff val="40000"/>
                  </a:schemeClr>
                </a:solidFill>
              </a:rPr>
              <a:t>relational operator</a:t>
            </a:r>
            <a:r>
              <a:rPr lang="en-IN" dirty="0">
                <a:solidFill>
                  <a:schemeClr val="accent4">
                    <a:lumMod val="60000"/>
                    <a:lumOff val="40000"/>
                  </a:schemeClr>
                </a:solidFill>
              </a:rPr>
              <a:t> used to compare two values.</a:t>
            </a:r>
          </a:p>
          <a:p>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19. What does &lt;= mean?</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&lt;= (less than or equal to)</a:t>
            </a:r>
            <a:r>
              <a:rPr lang="en-IN" dirty="0">
                <a:solidFill>
                  <a:schemeClr val="accent4">
                    <a:lumMod val="60000"/>
                    <a:lumOff val="40000"/>
                  </a:schemeClr>
                </a:solidFill>
              </a:rPr>
              <a:t> operator is a </a:t>
            </a:r>
            <a:r>
              <a:rPr lang="en-IN" b="1" dirty="0">
                <a:solidFill>
                  <a:schemeClr val="accent4">
                    <a:lumMod val="60000"/>
                    <a:lumOff val="40000"/>
                  </a:schemeClr>
                </a:solidFill>
              </a:rPr>
              <a:t>relational operator</a:t>
            </a:r>
            <a:r>
              <a:rPr lang="en-IN" dirty="0">
                <a:solidFill>
                  <a:schemeClr val="accent4">
                    <a:lumMod val="60000"/>
                    <a:lumOff val="40000"/>
                  </a:schemeClr>
                </a:solidFill>
              </a:rPr>
              <a:t> used to compare two values.</a:t>
            </a:r>
          </a:p>
          <a:p>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20. What does != mean?</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 (not equal to)</a:t>
            </a:r>
            <a:r>
              <a:rPr lang="en-IN" dirty="0">
                <a:solidFill>
                  <a:schemeClr val="accent4">
                    <a:lumMod val="60000"/>
                    <a:lumOff val="40000"/>
                  </a:schemeClr>
                </a:solidFill>
              </a:rPr>
              <a:t> operator is a </a:t>
            </a:r>
            <a:r>
              <a:rPr lang="en-IN" b="1" dirty="0">
                <a:solidFill>
                  <a:schemeClr val="accent4">
                    <a:lumMod val="60000"/>
                    <a:lumOff val="40000"/>
                  </a:schemeClr>
                </a:solidFill>
              </a:rPr>
              <a:t>relational operator</a:t>
            </a:r>
            <a:r>
              <a:rPr lang="en-IN" dirty="0">
                <a:solidFill>
                  <a:schemeClr val="accent4">
                    <a:lumMod val="60000"/>
                    <a:lumOff val="40000"/>
                  </a:schemeClr>
                </a:solidFill>
              </a:rPr>
              <a:t> used to compare two values.</a:t>
            </a:r>
          </a:p>
          <a:p>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21. What is a switch statement?</a:t>
            </a:r>
            <a:endParaRPr lang="en-US" dirty="0">
              <a:solidFill>
                <a:schemeClr val="accent4">
                  <a:lumMod val="60000"/>
                  <a:lumOff val="40000"/>
                </a:schemeClr>
              </a:solidFill>
            </a:endParaRPr>
          </a:p>
          <a:p>
            <a:r>
              <a:rPr lang="en-IN" dirty="0">
                <a:solidFill>
                  <a:schemeClr val="accent4">
                    <a:lumMod val="60000"/>
                    <a:lumOff val="40000"/>
                  </a:schemeClr>
                </a:solidFill>
              </a:rPr>
              <a:t>A </a:t>
            </a:r>
            <a:r>
              <a:rPr lang="en-IN" b="1" dirty="0">
                <a:solidFill>
                  <a:schemeClr val="accent4">
                    <a:lumMod val="60000"/>
                    <a:lumOff val="40000"/>
                  </a:schemeClr>
                </a:solidFill>
              </a:rPr>
              <a:t>switch statement</a:t>
            </a:r>
            <a:r>
              <a:rPr lang="en-IN" dirty="0">
                <a:solidFill>
                  <a:schemeClr val="accent4">
                    <a:lumMod val="60000"/>
                    <a:lumOff val="40000"/>
                  </a:schemeClr>
                </a:solidFill>
              </a:rPr>
              <a:t> is a decision-making statement that allows a program to choose one block of code from multiple alternatives based on the value of an expression.</a:t>
            </a:r>
          </a:p>
          <a:p>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22. What is a case label in a switch statement?</a:t>
            </a:r>
            <a:endParaRPr lang="en-US" dirty="0"/>
          </a:p>
          <a:p>
            <a:r>
              <a:rPr lang="en-IN" dirty="0">
                <a:solidFill>
                  <a:schemeClr val="accent4">
                    <a:lumMod val="60000"/>
                    <a:lumOff val="40000"/>
                  </a:schemeClr>
                </a:solidFill>
              </a:rPr>
              <a:t>A </a:t>
            </a:r>
            <a:r>
              <a:rPr lang="en-IN" b="1" dirty="0">
                <a:solidFill>
                  <a:schemeClr val="accent4">
                    <a:lumMod val="60000"/>
                    <a:lumOff val="40000"/>
                  </a:schemeClr>
                </a:solidFill>
              </a:rPr>
              <a:t>case label</a:t>
            </a:r>
            <a:r>
              <a:rPr lang="en-IN" dirty="0">
                <a:solidFill>
                  <a:schemeClr val="accent4">
                    <a:lumMod val="60000"/>
                    <a:lumOff val="40000"/>
                  </a:schemeClr>
                </a:solidFill>
              </a:rPr>
              <a:t> is a value inside a switch statement that specifies a particular option to be matched with the value of the switch expression.</a:t>
            </a:r>
          </a:p>
          <a:p>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23. Why is break used in switch?</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break</a:t>
            </a:r>
            <a:r>
              <a:rPr lang="en-IN" dirty="0">
                <a:solidFill>
                  <a:schemeClr val="accent4">
                    <a:lumMod val="60000"/>
                    <a:lumOff val="40000"/>
                  </a:schemeClr>
                </a:solidFill>
              </a:rPr>
              <a:t> statement is used to </a:t>
            </a:r>
            <a:r>
              <a:rPr lang="en-IN" b="1" dirty="0">
                <a:solidFill>
                  <a:schemeClr val="accent4">
                    <a:lumMod val="60000"/>
                    <a:lumOff val="40000"/>
                  </a:schemeClr>
                </a:solidFill>
              </a:rPr>
              <a:t>terminate the execution of a switch case</a:t>
            </a:r>
            <a:r>
              <a:rPr lang="en-IN" dirty="0">
                <a:solidFill>
                  <a:schemeClr val="accent4">
                    <a:lumMod val="60000"/>
                    <a:lumOff val="40000"/>
                  </a:schemeClr>
                </a:solidFill>
              </a:rPr>
              <a:t> and exit the switch block.</a:t>
            </a:r>
          </a:p>
          <a:p>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24. What happens if break is omitted?</a:t>
            </a:r>
            <a:endParaRPr lang="en-US" dirty="0"/>
          </a:p>
          <a:p>
            <a:r>
              <a:rPr lang="en-IN" dirty="0">
                <a:solidFill>
                  <a:schemeClr val="accent4">
                    <a:lumMod val="60000"/>
                    <a:lumOff val="40000"/>
                  </a:schemeClr>
                </a:solidFill>
              </a:rPr>
              <a:t>If the </a:t>
            </a:r>
            <a:r>
              <a:rPr lang="en-IN" b="1" dirty="0">
                <a:solidFill>
                  <a:schemeClr val="accent4">
                    <a:lumMod val="60000"/>
                    <a:lumOff val="40000"/>
                  </a:schemeClr>
                </a:solidFill>
              </a:rPr>
              <a:t>break</a:t>
            </a:r>
            <a:r>
              <a:rPr lang="en-IN" dirty="0">
                <a:solidFill>
                  <a:schemeClr val="accent4">
                    <a:lumMod val="60000"/>
                    <a:lumOff val="40000"/>
                  </a:schemeClr>
                </a:solidFill>
              </a:rPr>
              <a:t> statement is omitted, the program continues executing the statements of the next case(s) even if their labels do not match. This is called </a:t>
            </a:r>
            <a:r>
              <a:rPr lang="en-IN" b="1" dirty="0">
                <a:solidFill>
                  <a:schemeClr val="accent4">
                    <a:lumMod val="60000"/>
                    <a:lumOff val="40000"/>
                  </a:schemeClr>
                </a:solidFill>
              </a:rPr>
              <a:t>fall-through</a:t>
            </a:r>
            <a:r>
              <a:rPr lang="en-IN" dirty="0">
                <a:solidFill>
                  <a:schemeClr val="accent4">
                    <a:lumMod val="60000"/>
                    <a:lumOff val="40000"/>
                  </a:schemeClr>
                </a:solidFill>
              </a:rPr>
              <a:t>.</a:t>
            </a:r>
          </a:p>
          <a:p>
            <a:endParaRPr lang="en-US" dirty="0">
              <a:solidFill>
                <a:schemeClr val="accent4">
                  <a:lumMod val="60000"/>
                  <a:lumOff val="40000"/>
                </a:schemeClr>
              </a:solidFill>
            </a:endParaRPr>
          </a:p>
          <a:p>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25. What is the default case in switch?</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default case</a:t>
            </a:r>
            <a:r>
              <a:rPr lang="en-IN" dirty="0">
                <a:solidFill>
                  <a:schemeClr val="accent4">
                    <a:lumMod val="60000"/>
                    <a:lumOff val="40000"/>
                  </a:schemeClr>
                </a:solidFill>
              </a:rPr>
              <a:t> is executed when none of the case labels match the value of the switch expression.</a:t>
            </a:r>
          </a:p>
          <a:p>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lnSpcReduction="10000"/>
          </a:bodyPr>
          <a:lstStyle/>
          <a:p>
            <a:r>
              <a:rPr dirty="0"/>
              <a:t>26. Can switch compare strings in C++?</a:t>
            </a:r>
            <a:endParaRPr lang="en-US" dirty="0"/>
          </a:p>
          <a:p>
            <a:r>
              <a:rPr lang="en-IN" b="1" dirty="0">
                <a:solidFill>
                  <a:schemeClr val="accent4">
                    <a:lumMod val="60000"/>
                    <a:lumOff val="40000"/>
                  </a:schemeClr>
                </a:solidFill>
              </a:rPr>
              <a:t>No</a:t>
            </a:r>
            <a:r>
              <a:rPr lang="en-IN" dirty="0">
                <a:solidFill>
                  <a:schemeClr val="accent4">
                    <a:lumMod val="60000"/>
                    <a:lumOff val="40000"/>
                  </a:schemeClr>
                </a:solidFill>
              </a:rPr>
              <a:t>, a switch statement cannot directly compare </a:t>
            </a:r>
            <a:r>
              <a:rPr lang="en-IN" b="1" dirty="0">
                <a:solidFill>
                  <a:schemeClr val="accent4">
                    <a:lumMod val="60000"/>
                    <a:lumOff val="40000"/>
                  </a:schemeClr>
                </a:solidFill>
              </a:rPr>
              <a:t>strings</a:t>
            </a:r>
            <a:r>
              <a:rPr lang="en-IN" dirty="0">
                <a:solidFill>
                  <a:schemeClr val="accent4">
                    <a:lumMod val="60000"/>
                    <a:lumOff val="40000"/>
                  </a:schemeClr>
                </a:solidFill>
              </a:rPr>
              <a:t> in standard C++.</a:t>
            </a:r>
          </a:p>
          <a:p>
            <a:r>
              <a:rPr lang="en-IN" dirty="0">
                <a:solidFill>
                  <a:schemeClr val="accent4">
                    <a:lumMod val="60000"/>
                    <a:lumOff val="40000"/>
                  </a:schemeClr>
                </a:solidFill>
              </a:rPr>
              <a:t>A switch statement works only with:</a:t>
            </a:r>
          </a:p>
          <a:p>
            <a:r>
              <a:rPr lang="en-IN" dirty="0">
                <a:solidFill>
                  <a:schemeClr val="accent4">
                    <a:lumMod val="60000"/>
                    <a:lumOff val="40000"/>
                  </a:schemeClr>
                </a:solidFill>
              </a:rPr>
              <a:t>int </a:t>
            </a:r>
          </a:p>
          <a:p>
            <a:r>
              <a:rPr lang="en-IN" dirty="0">
                <a:solidFill>
                  <a:schemeClr val="accent4">
                    <a:lumMod val="60000"/>
                    <a:lumOff val="40000"/>
                  </a:schemeClr>
                </a:solidFill>
              </a:rPr>
              <a:t>char </a:t>
            </a:r>
          </a:p>
          <a:p>
            <a:r>
              <a:rPr lang="en-IN" dirty="0" err="1">
                <a:solidFill>
                  <a:schemeClr val="accent4">
                    <a:lumMod val="60000"/>
                    <a:lumOff val="40000"/>
                  </a:schemeClr>
                </a:solidFill>
              </a:rPr>
              <a:t>enum</a:t>
            </a:r>
            <a:r>
              <a:rPr lang="en-IN" dirty="0">
                <a:solidFill>
                  <a:schemeClr val="accent4">
                    <a:lumMod val="60000"/>
                    <a:lumOff val="40000"/>
                  </a:schemeClr>
                </a:solidFill>
              </a:rPr>
              <a:t> </a:t>
            </a:r>
          </a:p>
          <a:p>
            <a:r>
              <a:rPr lang="en-IN" dirty="0">
                <a:solidFill>
                  <a:schemeClr val="accent4">
                    <a:lumMod val="60000"/>
                    <a:lumOff val="40000"/>
                  </a:schemeClr>
                </a:solidFill>
              </a:rPr>
              <a:t>Other integral types </a:t>
            </a:r>
          </a:p>
          <a:p>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27. Which statement is better for many constant choices: if-else or switch?</a:t>
            </a:r>
            <a:endParaRPr lang="en-US" dirty="0"/>
          </a:p>
          <a:p>
            <a:r>
              <a:rPr lang="en-IN" dirty="0">
                <a:solidFill>
                  <a:schemeClr val="accent4">
                    <a:lumMod val="60000"/>
                    <a:lumOff val="40000"/>
                  </a:schemeClr>
                </a:solidFill>
              </a:rPr>
              <a:t>For </a:t>
            </a:r>
            <a:r>
              <a:rPr lang="en-IN" b="1" dirty="0">
                <a:solidFill>
                  <a:schemeClr val="accent4">
                    <a:lumMod val="60000"/>
                    <a:lumOff val="40000"/>
                  </a:schemeClr>
                </a:solidFill>
              </a:rPr>
              <a:t>many constant choices</a:t>
            </a:r>
            <a:r>
              <a:rPr lang="en-IN" dirty="0">
                <a:solidFill>
                  <a:schemeClr val="accent4">
                    <a:lumMod val="60000"/>
                    <a:lumOff val="40000"/>
                  </a:schemeClr>
                </a:solidFill>
              </a:rPr>
              <a:t>, a </a:t>
            </a:r>
            <a:r>
              <a:rPr lang="en-IN" b="1" dirty="0">
                <a:solidFill>
                  <a:schemeClr val="accent4">
                    <a:lumMod val="60000"/>
                    <a:lumOff val="40000"/>
                  </a:schemeClr>
                </a:solidFill>
              </a:rPr>
              <a:t>switch statement</a:t>
            </a:r>
            <a:r>
              <a:rPr lang="en-IN" dirty="0">
                <a:solidFill>
                  <a:schemeClr val="accent4">
                    <a:lumMod val="60000"/>
                    <a:lumOff val="40000"/>
                  </a:schemeClr>
                </a:solidFill>
              </a:rPr>
              <a:t> is generally better than an if-else ladder.</a:t>
            </a:r>
          </a:p>
          <a:p>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28. How do you test whether a value is positive?</a:t>
            </a:r>
            <a:endParaRPr lang="en-US" dirty="0"/>
          </a:p>
          <a:p>
            <a:r>
              <a:rPr lang="en-IN" dirty="0">
                <a:solidFill>
                  <a:schemeClr val="accent4">
                    <a:lumMod val="60000"/>
                    <a:lumOff val="40000"/>
                  </a:schemeClr>
                </a:solidFill>
              </a:rPr>
              <a:t>A value is </a:t>
            </a:r>
            <a:r>
              <a:rPr lang="en-IN" b="1" dirty="0">
                <a:solidFill>
                  <a:schemeClr val="accent4">
                    <a:lumMod val="60000"/>
                    <a:lumOff val="40000"/>
                  </a:schemeClr>
                </a:solidFill>
              </a:rPr>
              <a:t>positive</a:t>
            </a:r>
            <a:r>
              <a:rPr lang="en-IN" dirty="0">
                <a:solidFill>
                  <a:schemeClr val="accent4">
                    <a:lumMod val="60000"/>
                    <a:lumOff val="40000"/>
                  </a:schemeClr>
                </a:solidFill>
              </a:rPr>
              <a:t> if it is </a:t>
            </a:r>
            <a:r>
              <a:rPr lang="en-IN" b="1" dirty="0">
                <a:solidFill>
                  <a:schemeClr val="accent4">
                    <a:lumMod val="60000"/>
                    <a:lumOff val="40000"/>
                  </a:schemeClr>
                </a:solidFill>
              </a:rPr>
              <a:t>greater than zero</a:t>
            </a:r>
            <a:r>
              <a:rPr lang="en-IN" dirty="0">
                <a:solidFill>
                  <a:schemeClr val="accent4">
                    <a:lumMod val="60000"/>
                    <a:lumOff val="40000"/>
                  </a:schemeClr>
                </a:solidFill>
              </a:rPr>
              <a:t>.</a:t>
            </a:r>
          </a:p>
          <a:p>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29. How do you test whether a value is negative?</a:t>
            </a:r>
            <a:endParaRPr lang="en-US" dirty="0">
              <a:solidFill>
                <a:schemeClr val="accent4">
                  <a:lumMod val="60000"/>
                  <a:lumOff val="40000"/>
                </a:schemeClr>
              </a:solidFill>
            </a:endParaRPr>
          </a:p>
          <a:p>
            <a:r>
              <a:rPr lang="en-IN" dirty="0">
                <a:solidFill>
                  <a:schemeClr val="accent4">
                    <a:lumMod val="60000"/>
                    <a:lumOff val="40000"/>
                  </a:schemeClr>
                </a:solidFill>
              </a:rPr>
              <a:t>A value is </a:t>
            </a:r>
            <a:r>
              <a:rPr lang="en-IN" b="1" dirty="0">
                <a:solidFill>
                  <a:schemeClr val="accent4">
                    <a:lumMod val="60000"/>
                    <a:lumOff val="40000"/>
                  </a:schemeClr>
                </a:solidFill>
              </a:rPr>
              <a:t>negative</a:t>
            </a:r>
            <a:r>
              <a:rPr lang="en-IN" dirty="0">
                <a:solidFill>
                  <a:schemeClr val="accent4">
                    <a:lumMod val="60000"/>
                    <a:lumOff val="40000"/>
                  </a:schemeClr>
                </a:solidFill>
              </a:rPr>
              <a:t> if it is </a:t>
            </a:r>
            <a:r>
              <a:rPr lang="en-IN" b="1" dirty="0">
                <a:solidFill>
                  <a:schemeClr val="accent4">
                    <a:lumMod val="60000"/>
                    <a:lumOff val="40000"/>
                  </a:schemeClr>
                </a:solidFill>
              </a:rPr>
              <a:t>less than zero</a:t>
            </a:r>
            <a:r>
              <a:rPr lang="en-IN" dirty="0">
                <a:solidFill>
                  <a:schemeClr val="accent4">
                    <a:lumMod val="60000"/>
                    <a:lumOff val="40000"/>
                  </a:schemeClr>
                </a:solidFill>
              </a:rPr>
              <a:t>.</a:t>
            </a:r>
          </a:p>
          <a:p>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30. How do you test whether a value is zero?</a:t>
            </a:r>
            <a:endParaRPr lang="en-US" dirty="0"/>
          </a:p>
          <a:p>
            <a:r>
              <a:rPr lang="en-IN" dirty="0">
                <a:solidFill>
                  <a:schemeClr val="accent4">
                    <a:lumMod val="60000"/>
                    <a:lumOff val="40000"/>
                  </a:schemeClr>
                </a:solidFill>
              </a:rPr>
              <a:t>A value is </a:t>
            </a:r>
            <a:r>
              <a:rPr lang="en-IN" b="1" dirty="0">
                <a:solidFill>
                  <a:schemeClr val="accent4">
                    <a:lumMod val="60000"/>
                    <a:lumOff val="40000"/>
                  </a:schemeClr>
                </a:solidFill>
              </a:rPr>
              <a:t>zero</a:t>
            </a:r>
            <a:r>
              <a:rPr lang="en-IN" dirty="0">
                <a:solidFill>
                  <a:schemeClr val="accent4">
                    <a:lumMod val="60000"/>
                    <a:lumOff val="40000"/>
                  </a:schemeClr>
                </a:solidFill>
              </a:rPr>
              <a:t> if it is equal to </a:t>
            </a:r>
            <a:r>
              <a:rPr lang="en-IN" b="1" dirty="0">
                <a:solidFill>
                  <a:schemeClr val="accent4">
                    <a:lumMod val="60000"/>
                    <a:lumOff val="40000"/>
                  </a:schemeClr>
                </a:solidFill>
              </a:rPr>
              <a:t>0</a:t>
            </a:r>
            <a:r>
              <a:rPr lang="en-IN" dirty="0">
                <a:solidFill>
                  <a:schemeClr val="accent4">
                    <a:lumMod val="60000"/>
                    <a:lumOff val="40000"/>
                  </a:schemeClr>
                </a:solidFill>
              </a:rPr>
              <a:t>.</a:t>
            </a:r>
          </a:p>
          <a:p>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31. Write a condition to check if age is at least </a:t>
            </a:r>
            <a:endParaRPr lang="en-US" dirty="0"/>
          </a:p>
          <a:p>
            <a:pPr marL="0" indent="0">
              <a:buNone/>
            </a:pPr>
            <a:r>
              <a:rPr lang="en-IN" dirty="0"/>
              <a:t>   18</a:t>
            </a:r>
          </a:p>
          <a:p>
            <a:pPr marL="0" indent="0">
              <a:buNone/>
            </a:pPr>
            <a:r>
              <a:rPr lang="en-US" dirty="0">
                <a:solidFill>
                  <a:schemeClr val="accent4">
                    <a:lumMod val="60000"/>
                    <a:lumOff val="40000"/>
                  </a:schemeClr>
                </a:solidFill>
              </a:rPr>
              <a:t>age &gt;= 18</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32. Write a condition to check if marks are above 50.</a:t>
            </a:r>
            <a:endParaRPr lang="en-US" dirty="0"/>
          </a:p>
          <a:p>
            <a:r>
              <a:rPr lang="en-IN" dirty="0">
                <a:solidFill>
                  <a:schemeClr val="accent4">
                    <a:lumMod val="60000"/>
                    <a:lumOff val="40000"/>
                  </a:schemeClr>
                </a:solidFill>
              </a:rPr>
              <a:t>marks &gt; 50</a:t>
            </a:r>
          </a:p>
          <a:p>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92500" lnSpcReduction="10000"/>
          </a:bodyPr>
          <a:lstStyle/>
          <a:p>
            <a:r>
              <a:rPr dirty="0"/>
              <a:t>33. What is decision making in programming?</a:t>
            </a:r>
            <a:r>
              <a:rPr lang="en-US" dirty="0"/>
              <a:t> </a:t>
            </a:r>
          </a:p>
          <a:p>
            <a:r>
              <a:rPr lang="en-IN" b="1" dirty="0">
                <a:solidFill>
                  <a:schemeClr val="accent4">
                    <a:lumMod val="60000"/>
                    <a:lumOff val="40000"/>
                  </a:schemeClr>
                </a:solidFill>
              </a:rPr>
              <a:t>Decision making</a:t>
            </a:r>
            <a:r>
              <a:rPr lang="en-IN" dirty="0">
                <a:solidFill>
                  <a:schemeClr val="accent4">
                    <a:lumMod val="60000"/>
                    <a:lumOff val="40000"/>
                  </a:schemeClr>
                </a:solidFill>
              </a:rPr>
              <a:t> is the process by which a program chooses between different actions based on whether a condition is true or false.</a:t>
            </a:r>
          </a:p>
          <a:p>
            <a:r>
              <a:rPr lang="en-IN" dirty="0">
                <a:solidFill>
                  <a:schemeClr val="accent4">
                    <a:lumMod val="60000"/>
                    <a:lumOff val="40000"/>
                  </a:schemeClr>
                </a:solidFill>
              </a:rPr>
              <a:t>It is done using conditional statements such as:</a:t>
            </a:r>
          </a:p>
          <a:p>
            <a:r>
              <a:rPr lang="en-IN" dirty="0">
                <a:solidFill>
                  <a:schemeClr val="accent4">
                    <a:lumMod val="60000"/>
                    <a:lumOff val="40000"/>
                  </a:schemeClr>
                </a:solidFill>
              </a:rPr>
              <a:t>if </a:t>
            </a:r>
          </a:p>
          <a:p>
            <a:r>
              <a:rPr lang="en-IN" dirty="0">
                <a:solidFill>
                  <a:schemeClr val="accent4">
                    <a:lumMod val="60000"/>
                    <a:lumOff val="40000"/>
                  </a:schemeClr>
                </a:solidFill>
              </a:rPr>
              <a:t>if-else </a:t>
            </a:r>
          </a:p>
          <a:p>
            <a:r>
              <a:rPr lang="en-IN" dirty="0">
                <a:solidFill>
                  <a:schemeClr val="accent4">
                    <a:lumMod val="60000"/>
                    <a:lumOff val="40000"/>
                  </a:schemeClr>
                </a:solidFill>
              </a:rPr>
              <a:t>else if </a:t>
            </a:r>
          </a:p>
          <a:p>
            <a:r>
              <a:rPr lang="en-IN" dirty="0">
                <a:solidFill>
                  <a:schemeClr val="accent4">
                    <a:lumMod val="60000"/>
                    <a:lumOff val="40000"/>
                  </a:schemeClr>
                </a:solidFill>
              </a:rPr>
              <a:t>switch </a:t>
            </a:r>
          </a:p>
          <a:p>
            <a:endParaRPr lang="en-US" dirty="0"/>
          </a:p>
          <a:p>
            <a:endParaRPr lang="en-US" dirty="0"/>
          </a:p>
          <a:p>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34. Can nested if statements have multiple levels?</a:t>
            </a:r>
            <a:endParaRPr lang="en-US" dirty="0"/>
          </a:p>
          <a:p>
            <a:r>
              <a:rPr lang="en-IN" b="1" dirty="0">
                <a:solidFill>
                  <a:schemeClr val="accent4">
                    <a:lumMod val="60000"/>
                    <a:lumOff val="40000"/>
                  </a:schemeClr>
                </a:solidFill>
              </a:rPr>
              <a:t>Yes</a:t>
            </a:r>
            <a:r>
              <a:rPr lang="en-IN" dirty="0">
                <a:solidFill>
                  <a:schemeClr val="accent4">
                    <a:lumMod val="60000"/>
                    <a:lumOff val="40000"/>
                  </a:schemeClr>
                </a:solidFill>
              </a:rPr>
              <a:t>, nested if statements can have </a:t>
            </a:r>
            <a:r>
              <a:rPr lang="en-IN" b="1" dirty="0">
                <a:solidFill>
                  <a:schemeClr val="accent4">
                    <a:lumMod val="60000"/>
                    <a:lumOff val="40000"/>
                  </a:schemeClr>
                </a:solidFill>
              </a:rPr>
              <a:t>multiple levels</a:t>
            </a:r>
            <a:r>
              <a:rPr lang="en-IN" dirty="0">
                <a:solidFill>
                  <a:schemeClr val="accent4">
                    <a:lumMod val="60000"/>
                    <a:lumOff val="40000"/>
                  </a:schemeClr>
                </a:solidFill>
              </a:rPr>
              <a:t>. An if statement can be placed inside another if statement, and this nesting can continue as needed.</a:t>
            </a:r>
          </a:p>
          <a:p>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35. What is logical AND (&amp;&amp;)?</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logical AND operator (&amp;&amp;)</a:t>
            </a:r>
            <a:r>
              <a:rPr lang="en-IN" dirty="0">
                <a:solidFill>
                  <a:schemeClr val="accent4">
                    <a:lumMod val="60000"/>
                    <a:lumOff val="40000"/>
                  </a:schemeClr>
                </a:solidFill>
              </a:rPr>
              <a:t> is used to combine two or more conditions.</a:t>
            </a:r>
          </a:p>
          <a:p>
            <a:r>
              <a:rPr lang="en-IN" dirty="0">
                <a:solidFill>
                  <a:schemeClr val="accent4">
                    <a:lumMod val="60000"/>
                    <a:lumOff val="40000"/>
                  </a:schemeClr>
                </a:solidFill>
              </a:rPr>
              <a:t>It returns:</a:t>
            </a:r>
          </a:p>
          <a:p>
            <a:r>
              <a:rPr lang="en-IN" b="1" dirty="0">
                <a:solidFill>
                  <a:schemeClr val="accent4">
                    <a:lumMod val="60000"/>
                    <a:lumOff val="40000"/>
                  </a:schemeClr>
                </a:solidFill>
              </a:rPr>
              <a:t>True (1)</a:t>
            </a:r>
            <a:r>
              <a:rPr lang="en-IN" dirty="0">
                <a:solidFill>
                  <a:schemeClr val="accent4">
                    <a:lumMod val="60000"/>
                    <a:lumOff val="40000"/>
                  </a:schemeClr>
                </a:solidFill>
              </a:rPr>
              <a:t> if </a:t>
            </a:r>
            <a:r>
              <a:rPr lang="en-IN" b="1" dirty="0">
                <a:solidFill>
                  <a:schemeClr val="accent4">
                    <a:lumMod val="60000"/>
                    <a:lumOff val="40000"/>
                  </a:schemeClr>
                </a:solidFill>
              </a:rPr>
              <a:t>all conditions are true</a:t>
            </a:r>
            <a:r>
              <a:rPr lang="en-IN" dirty="0">
                <a:solidFill>
                  <a:schemeClr val="accent4">
                    <a:lumMod val="60000"/>
                    <a:lumOff val="40000"/>
                  </a:schemeClr>
                </a:solidFill>
              </a:rPr>
              <a:t>. </a:t>
            </a:r>
          </a:p>
          <a:p>
            <a:r>
              <a:rPr lang="en-IN" b="1" dirty="0">
                <a:solidFill>
                  <a:schemeClr val="accent4">
                    <a:lumMod val="60000"/>
                    <a:lumOff val="40000"/>
                  </a:schemeClr>
                </a:solidFill>
              </a:rPr>
              <a:t>False (0)</a:t>
            </a:r>
            <a:r>
              <a:rPr lang="en-IN" dirty="0">
                <a:solidFill>
                  <a:schemeClr val="accent4">
                    <a:lumMod val="60000"/>
                    <a:lumOff val="40000"/>
                  </a:schemeClr>
                </a:solidFill>
              </a:rPr>
              <a:t> if </a:t>
            </a:r>
            <a:r>
              <a:rPr lang="en-IN" b="1" dirty="0">
                <a:solidFill>
                  <a:schemeClr val="accent4">
                    <a:lumMod val="60000"/>
                    <a:lumOff val="40000"/>
                  </a:schemeClr>
                </a:solidFill>
              </a:rPr>
              <a:t>any one condition is false</a:t>
            </a:r>
            <a:r>
              <a:rPr lang="en-IN" dirty="0">
                <a:solidFill>
                  <a:schemeClr val="accent4">
                    <a:lumMod val="60000"/>
                    <a:lumOff val="40000"/>
                  </a:schemeClr>
                </a:solidFill>
              </a:rPr>
              <a:t>. </a:t>
            </a:r>
          </a:p>
          <a:p>
            <a:endParaRPr lang="en-US" dirty="0"/>
          </a:p>
          <a:p>
            <a:pPr algn="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36. What is logical OR (||)?</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logical OR operator (||)</a:t>
            </a:r>
            <a:r>
              <a:rPr lang="en-IN" dirty="0">
                <a:solidFill>
                  <a:schemeClr val="accent4">
                    <a:lumMod val="60000"/>
                    <a:lumOff val="40000"/>
                  </a:schemeClr>
                </a:solidFill>
              </a:rPr>
              <a:t> is used to combine two or more conditions.</a:t>
            </a:r>
          </a:p>
          <a:p>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37. What is logical NOT (!)?</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logical NOT operator (!)</a:t>
            </a:r>
            <a:r>
              <a:rPr lang="en-IN" dirty="0">
                <a:solidFill>
                  <a:schemeClr val="accent4">
                    <a:lumMod val="60000"/>
                    <a:lumOff val="40000"/>
                  </a:schemeClr>
                </a:solidFill>
              </a:rPr>
              <a:t> is used to </a:t>
            </a:r>
            <a:r>
              <a:rPr lang="en-IN" b="1" dirty="0">
                <a:solidFill>
                  <a:schemeClr val="accent4">
                    <a:lumMod val="60000"/>
                    <a:lumOff val="40000"/>
                  </a:schemeClr>
                </a:solidFill>
              </a:rPr>
              <a:t>reverse</a:t>
            </a:r>
            <a:r>
              <a:rPr lang="en-IN" dirty="0">
                <a:solidFill>
                  <a:schemeClr val="accent4">
                    <a:lumMod val="60000"/>
                    <a:lumOff val="40000"/>
                  </a:schemeClr>
                </a:solidFill>
              </a:rPr>
              <a:t> the result of a condition.</a:t>
            </a:r>
          </a:p>
          <a:p>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38. How do you check if a year is divisible by 4?</a:t>
            </a:r>
            <a:endParaRPr lang="en-US" dirty="0"/>
          </a:p>
          <a:p>
            <a:r>
              <a:rPr lang="en-IN" dirty="0">
                <a:solidFill>
                  <a:schemeClr val="accent4">
                    <a:lumMod val="60000"/>
                    <a:lumOff val="40000"/>
                  </a:schemeClr>
                </a:solidFill>
              </a:rPr>
              <a:t>year % 4 == 0</a:t>
            </a:r>
            <a:endParaRPr dirty="0">
              <a:solidFill>
                <a:schemeClr val="accent4">
                  <a:lumMod val="60000"/>
                  <a:lumOff val="40000"/>
                </a:schemeClr>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39. What is a leap year?</a:t>
            </a:r>
            <a:endParaRPr lang="en-US" dirty="0"/>
          </a:p>
          <a:p>
            <a:r>
              <a:rPr lang="en-IN" dirty="0">
                <a:solidFill>
                  <a:schemeClr val="accent4">
                    <a:lumMod val="60000"/>
                    <a:lumOff val="40000"/>
                  </a:schemeClr>
                </a:solidFill>
              </a:rPr>
              <a:t>A </a:t>
            </a:r>
            <a:r>
              <a:rPr lang="en-IN" b="1" dirty="0">
                <a:solidFill>
                  <a:schemeClr val="accent4">
                    <a:lumMod val="60000"/>
                    <a:lumOff val="40000"/>
                  </a:schemeClr>
                </a:solidFill>
              </a:rPr>
              <a:t>leap year</a:t>
            </a:r>
            <a:r>
              <a:rPr lang="en-IN" dirty="0">
                <a:solidFill>
                  <a:schemeClr val="accent4">
                    <a:lumMod val="60000"/>
                    <a:lumOff val="40000"/>
                  </a:schemeClr>
                </a:solidFill>
              </a:rPr>
              <a:t> is a year that has </a:t>
            </a:r>
            <a:r>
              <a:rPr lang="en-IN" b="1" dirty="0">
                <a:solidFill>
                  <a:schemeClr val="accent4">
                    <a:lumMod val="60000"/>
                    <a:lumOff val="40000"/>
                  </a:schemeClr>
                </a:solidFill>
              </a:rPr>
              <a:t>366 days</a:t>
            </a:r>
            <a:r>
              <a:rPr lang="en-IN" dirty="0">
                <a:solidFill>
                  <a:schemeClr val="accent4">
                    <a:lumMod val="60000"/>
                    <a:lumOff val="40000"/>
                  </a:schemeClr>
                </a:solidFill>
              </a:rPr>
              <a:t> instead of </a:t>
            </a:r>
            <a:r>
              <a:rPr lang="en-IN" b="1" dirty="0">
                <a:solidFill>
                  <a:schemeClr val="accent4">
                    <a:lumMod val="60000"/>
                    <a:lumOff val="40000"/>
                  </a:schemeClr>
                </a:solidFill>
              </a:rPr>
              <a:t>365 days</a:t>
            </a:r>
            <a:r>
              <a:rPr lang="en-IN" dirty="0">
                <a:solidFill>
                  <a:schemeClr val="accent4">
                    <a:lumMod val="60000"/>
                    <a:lumOff val="40000"/>
                  </a:schemeClr>
                </a:solidFill>
              </a:rPr>
              <a:t>.</a:t>
            </a:r>
          </a:p>
          <a:p>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85000" lnSpcReduction="20000"/>
          </a:bodyPr>
          <a:lstStyle/>
          <a:p>
            <a:r>
              <a:rPr dirty="0"/>
              <a:t>40.</a:t>
            </a:r>
            <a:r>
              <a:rPr lang="en-US" dirty="0"/>
              <a:t> int a = 10, b = 20;</a:t>
            </a:r>
          </a:p>
          <a:p>
            <a:endParaRPr lang="en-US" dirty="0"/>
          </a:p>
          <a:p>
            <a:r>
              <a:rPr lang="en-US" dirty="0"/>
              <a:t>if(a &gt; b)</a:t>
            </a:r>
          </a:p>
          <a:p>
            <a:r>
              <a:rPr lang="en-US" dirty="0"/>
              <a:t>{</a:t>
            </a:r>
          </a:p>
          <a:p>
            <a:r>
              <a:rPr lang="en-US" dirty="0"/>
              <a:t>    </a:t>
            </a:r>
            <a:r>
              <a:rPr lang="en-US" dirty="0" err="1"/>
              <a:t>cout</a:t>
            </a:r>
            <a:r>
              <a:rPr lang="en-US" dirty="0"/>
              <a:t> &lt;&lt; "Largest = " &lt;&lt; a;</a:t>
            </a:r>
          </a:p>
          <a:p>
            <a:r>
              <a:rPr lang="en-US" dirty="0"/>
              <a:t>}</a:t>
            </a:r>
          </a:p>
          <a:p>
            <a:r>
              <a:rPr lang="en-US" dirty="0"/>
              <a:t>else</a:t>
            </a:r>
          </a:p>
          <a:p>
            <a:r>
              <a:rPr lang="en-US" dirty="0"/>
              <a:t>{</a:t>
            </a:r>
          </a:p>
          <a:p>
            <a:r>
              <a:rPr lang="en-US" dirty="0"/>
              <a:t>    </a:t>
            </a:r>
            <a:r>
              <a:rPr lang="en-US" dirty="0" err="1"/>
              <a:t>cout</a:t>
            </a:r>
            <a:r>
              <a:rPr lang="en-US" dirty="0"/>
              <a:t> &lt;&lt; "Largest = " &lt;&lt; b;</a:t>
            </a:r>
          </a:p>
          <a:p>
            <a:r>
              <a:rPr lang="en-US" dirty="0"/>
              <a:t>}</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77500" lnSpcReduction="20000"/>
          </a:bodyPr>
          <a:lstStyle/>
          <a:p>
            <a:r>
              <a:rPr dirty="0"/>
              <a:t>41. How do you find the largest of two numbers?</a:t>
            </a:r>
            <a:endParaRPr lang="en-US" dirty="0"/>
          </a:p>
          <a:p>
            <a:r>
              <a:rPr lang="en-US" dirty="0">
                <a:solidFill>
                  <a:schemeClr val="accent4">
                    <a:lumMod val="60000"/>
                    <a:lumOff val="40000"/>
                  </a:schemeClr>
                </a:solidFill>
              </a:rPr>
              <a:t>int a = 10, b = 20;</a:t>
            </a:r>
          </a:p>
          <a:p>
            <a:endParaRPr lang="en-US" dirty="0">
              <a:solidFill>
                <a:schemeClr val="accent4">
                  <a:lumMod val="60000"/>
                  <a:lumOff val="40000"/>
                </a:schemeClr>
              </a:solidFill>
            </a:endParaRPr>
          </a:p>
          <a:p>
            <a:r>
              <a:rPr lang="en-US" dirty="0">
                <a:solidFill>
                  <a:schemeClr val="accent4">
                    <a:lumMod val="60000"/>
                    <a:lumOff val="40000"/>
                  </a:schemeClr>
                </a:solidFill>
              </a:rPr>
              <a:t>if(a &gt; b)</a:t>
            </a:r>
          </a:p>
          <a:p>
            <a:r>
              <a:rPr lang="en-US" dirty="0">
                <a:solidFill>
                  <a:schemeClr val="accent4">
                    <a:lumMod val="60000"/>
                    <a:lumOff val="40000"/>
                  </a:schemeClr>
                </a:solidFill>
              </a:rPr>
              <a:t>{</a:t>
            </a:r>
          </a:p>
          <a:p>
            <a:r>
              <a:rPr lang="en-US" dirty="0">
                <a:solidFill>
                  <a:schemeClr val="accent4">
                    <a:lumMod val="60000"/>
                    <a:lumOff val="40000"/>
                  </a:schemeClr>
                </a:solidFill>
              </a:rPr>
              <a:t>    </a:t>
            </a:r>
            <a:r>
              <a:rPr lang="en-US" dirty="0" err="1">
                <a:solidFill>
                  <a:schemeClr val="accent4">
                    <a:lumMod val="60000"/>
                    <a:lumOff val="40000"/>
                  </a:schemeClr>
                </a:solidFill>
              </a:rPr>
              <a:t>cout</a:t>
            </a:r>
            <a:r>
              <a:rPr lang="en-US" dirty="0">
                <a:solidFill>
                  <a:schemeClr val="accent4">
                    <a:lumMod val="60000"/>
                    <a:lumOff val="40000"/>
                  </a:schemeClr>
                </a:solidFill>
              </a:rPr>
              <a:t> &lt;&lt; "Largest = " &lt;&lt; a;</a:t>
            </a:r>
          </a:p>
          <a:p>
            <a:r>
              <a:rPr lang="en-US" dirty="0">
                <a:solidFill>
                  <a:schemeClr val="accent4">
                    <a:lumMod val="60000"/>
                    <a:lumOff val="40000"/>
                  </a:schemeClr>
                </a:solidFill>
              </a:rPr>
              <a:t>}</a:t>
            </a:r>
          </a:p>
          <a:p>
            <a:r>
              <a:rPr lang="en-US" dirty="0">
                <a:solidFill>
                  <a:schemeClr val="accent4">
                    <a:lumMod val="60000"/>
                    <a:lumOff val="40000"/>
                  </a:schemeClr>
                </a:solidFill>
              </a:rPr>
              <a:t>else</a:t>
            </a:r>
          </a:p>
          <a:p>
            <a:r>
              <a:rPr lang="en-US" dirty="0">
                <a:solidFill>
                  <a:schemeClr val="accent4">
                    <a:lumMod val="60000"/>
                    <a:lumOff val="40000"/>
                  </a:schemeClr>
                </a:solidFill>
              </a:rPr>
              <a:t>{</a:t>
            </a:r>
          </a:p>
          <a:p>
            <a:r>
              <a:rPr lang="en-US" dirty="0">
                <a:solidFill>
                  <a:schemeClr val="accent4">
                    <a:lumMod val="60000"/>
                    <a:lumOff val="40000"/>
                  </a:schemeClr>
                </a:solidFill>
              </a:rPr>
              <a:t>    </a:t>
            </a:r>
            <a:r>
              <a:rPr lang="en-US" dirty="0" err="1">
                <a:solidFill>
                  <a:schemeClr val="accent4">
                    <a:lumMod val="60000"/>
                    <a:lumOff val="40000"/>
                  </a:schemeClr>
                </a:solidFill>
              </a:rPr>
              <a:t>cout</a:t>
            </a:r>
            <a:r>
              <a:rPr lang="en-US" dirty="0">
                <a:solidFill>
                  <a:schemeClr val="accent4">
                    <a:lumMod val="60000"/>
                    <a:lumOff val="40000"/>
                  </a:schemeClr>
                </a:solidFill>
              </a:rPr>
              <a:t> &lt;&lt; "Largest = " &lt;&lt; b;</a:t>
            </a:r>
          </a:p>
          <a:p>
            <a:r>
              <a:rPr lang="en-US" dirty="0">
                <a:solidFill>
                  <a:schemeClr val="accent4">
                    <a:lumMod val="60000"/>
                    <a:lumOff val="40000"/>
                  </a:schemeClr>
                </a:solidFill>
              </a:rPr>
              <a:t>}</a:t>
            </a:r>
            <a:endParaRPr dirty="0">
              <a:solidFill>
                <a:schemeClr val="accent4">
                  <a:lumMod val="60000"/>
                  <a:lumOff val="40000"/>
                </a:schemeClr>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fontScale="55000" lnSpcReduction="20000"/>
          </a:bodyPr>
          <a:lstStyle/>
          <a:p>
            <a:r>
              <a:rPr dirty="0"/>
              <a:t>42. How do you find the largest of three numbers?</a:t>
            </a:r>
            <a:endParaRPr lang="en-US" dirty="0"/>
          </a:p>
          <a:p>
            <a:r>
              <a:rPr lang="en-US" dirty="0">
                <a:solidFill>
                  <a:schemeClr val="accent4">
                    <a:lumMod val="60000"/>
                    <a:lumOff val="40000"/>
                  </a:schemeClr>
                </a:solidFill>
              </a:rPr>
              <a:t>int a = 10, b = 25, c = 15;</a:t>
            </a:r>
          </a:p>
          <a:p>
            <a:endParaRPr lang="en-US" dirty="0">
              <a:solidFill>
                <a:schemeClr val="accent4">
                  <a:lumMod val="60000"/>
                  <a:lumOff val="40000"/>
                </a:schemeClr>
              </a:solidFill>
            </a:endParaRPr>
          </a:p>
          <a:p>
            <a:r>
              <a:rPr lang="en-US" dirty="0">
                <a:solidFill>
                  <a:schemeClr val="accent4">
                    <a:lumMod val="60000"/>
                    <a:lumOff val="40000"/>
                  </a:schemeClr>
                </a:solidFill>
              </a:rPr>
              <a:t>if(a &gt;= b &amp;&amp; a &gt;= c)</a:t>
            </a:r>
          </a:p>
          <a:p>
            <a:r>
              <a:rPr lang="en-US" dirty="0">
                <a:solidFill>
                  <a:schemeClr val="accent4">
                    <a:lumMod val="60000"/>
                    <a:lumOff val="40000"/>
                  </a:schemeClr>
                </a:solidFill>
              </a:rPr>
              <a:t>{</a:t>
            </a:r>
          </a:p>
          <a:p>
            <a:r>
              <a:rPr lang="en-US" dirty="0">
                <a:solidFill>
                  <a:schemeClr val="accent4">
                    <a:lumMod val="60000"/>
                    <a:lumOff val="40000"/>
                  </a:schemeClr>
                </a:solidFill>
              </a:rPr>
              <a:t>    </a:t>
            </a:r>
            <a:r>
              <a:rPr lang="en-US" dirty="0" err="1">
                <a:solidFill>
                  <a:schemeClr val="accent4">
                    <a:lumMod val="60000"/>
                    <a:lumOff val="40000"/>
                  </a:schemeClr>
                </a:solidFill>
              </a:rPr>
              <a:t>cout</a:t>
            </a:r>
            <a:r>
              <a:rPr lang="en-US" dirty="0">
                <a:solidFill>
                  <a:schemeClr val="accent4">
                    <a:lumMod val="60000"/>
                    <a:lumOff val="40000"/>
                  </a:schemeClr>
                </a:solidFill>
              </a:rPr>
              <a:t> &lt;&lt; "Largest = " &lt;&lt; a;</a:t>
            </a:r>
          </a:p>
          <a:p>
            <a:r>
              <a:rPr lang="en-US" dirty="0">
                <a:solidFill>
                  <a:schemeClr val="accent4">
                    <a:lumMod val="60000"/>
                    <a:lumOff val="40000"/>
                  </a:schemeClr>
                </a:solidFill>
              </a:rPr>
              <a:t>}</a:t>
            </a:r>
          </a:p>
          <a:p>
            <a:r>
              <a:rPr lang="en-US" dirty="0">
                <a:solidFill>
                  <a:schemeClr val="accent4">
                    <a:lumMod val="60000"/>
                    <a:lumOff val="40000"/>
                  </a:schemeClr>
                </a:solidFill>
              </a:rPr>
              <a:t>else if(b &gt;= a &amp;&amp; b &gt;= c)</a:t>
            </a:r>
          </a:p>
          <a:p>
            <a:r>
              <a:rPr lang="en-US" dirty="0">
                <a:solidFill>
                  <a:schemeClr val="accent4">
                    <a:lumMod val="60000"/>
                    <a:lumOff val="40000"/>
                  </a:schemeClr>
                </a:solidFill>
              </a:rPr>
              <a:t>{</a:t>
            </a:r>
          </a:p>
          <a:p>
            <a:r>
              <a:rPr lang="en-US" dirty="0">
                <a:solidFill>
                  <a:schemeClr val="accent4">
                    <a:lumMod val="60000"/>
                    <a:lumOff val="40000"/>
                  </a:schemeClr>
                </a:solidFill>
              </a:rPr>
              <a:t>    </a:t>
            </a:r>
            <a:r>
              <a:rPr lang="en-US" dirty="0" err="1">
                <a:solidFill>
                  <a:schemeClr val="accent4">
                    <a:lumMod val="60000"/>
                    <a:lumOff val="40000"/>
                  </a:schemeClr>
                </a:solidFill>
              </a:rPr>
              <a:t>cout</a:t>
            </a:r>
            <a:r>
              <a:rPr lang="en-US" dirty="0">
                <a:solidFill>
                  <a:schemeClr val="accent4">
                    <a:lumMod val="60000"/>
                    <a:lumOff val="40000"/>
                  </a:schemeClr>
                </a:solidFill>
              </a:rPr>
              <a:t> &lt;&lt; "Largest = " &lt;&lt; b;</a:t>
            </a:r>
          </a:p>
          <a:p>
            <a:r>
              <a:rPr lang="en-US" dirty="0">
                <a:solidFill>
                  <a:schemeClr val="accent4">
                    <a:lumMod val="60000"/>
                    <a:lumOff val="40000"/>
                  </a:schemeClr>
                </a:solidFill>
              </a:rPr>
              <a:t>}</a:t>
            </a:r>
          </a:p>
          <a:p>
            <a:r>
              <a:rPr lang="en-US" dirty="0">
                <a:solidFill>
                  <a:schemeClr val="accent4">
                    <a:lumMod val="60000"/>
                    <a:lumOff val="40000"/>
                  </a:schemeClr>
                </a:solidFill>
              </a:rPr>
              <a:t>else</a:t>
            </a:r>
          </a:p>
          <a:p>
            <a:r>
              <a:rPr lang="en-US" dirty="0">
                <a:solidFill>
                  <a:schemeClr val="accent4">
                    <a:lumMod val="60000"/>
                    <a:lumOff val="40000"/>
                  </a:schemeClr>
                </a:solidFill>
              </a:rPr>
              <a:t>{</a:t>
            </a:r>
          </a:p>
          <a:p>
            <a:r>
              <a:rPr lang="en-US" dirty="0">
                <a:solidFill>
                  <a:schemeClr val="accent4">
                    <a:lumMod val="60000"/>
                    <a:lumOff val="40000"/>
                  </a:schemeClr>
                </a:solidFill>
              </a:rPr>
              <a:t>    </a:t>
            </a:r>
            <a:r>
              <a:rPr lang="en-US" dirty="0" err="1">
                <a:solidFill>
                  <a:schemeClr val="accent4">
                    <a:lumMod val="60000"/>
                    <a:lumOff val="40000"/>
                  </a:schemeClr>
                </a:solidFill>
              </a:rPr>
              <a:t>cout</a:t>
            </a:r>
            <a:r>
              <a:rPr lang="en-US" dirty="0">
                <a:solidFill>
                  <a:schemeClr val="accent4">
                    <a:lumMod val="60000"/>
                    <a:lumOff val="40000"/>
                  </a:schemeClr>
                </a:solidFill>
              </a:rPr>
              <a:t> &lt;&lt; "Largest = " &lt;&lt; c;</a:t>
            </a:r>
          </a:p>
          <a:p>
            <a:r>
              <a:rPr lang="en-US" dirty="0">
                <a:solidFill>
                  <a:schemeClr val="accent4">
                    <a:lumMod val="60000"/>
                    <a:lumOff val="40000"/>
                  </a:schemeClr>
                </a:solidFill>
              </a:rPr>
              <a:t>}</a:t>
            </a:r>
            <a:endParaRPr dirty="0">
              <a:solidFill>
                <a:schemeClr val="accent4">
                  <a:lumMod val="60000"/>
                  <a:lumOff val="40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normAutofit lnSpcReduction="10000"/>
          </a:bodyPr>
          <a:lstStyle/>
          <a:p>
            <a:r>
              <a:rPr dirty="0"/>
              <a:t>43. What is an if-else-if ladder?</a:t>
            </a:r>
            <a:endParaRPr lang="en-US" dirty="0"/>
          </a:p>
          <a:p>
            <a:r>
              <a:rPr lang="en-IN" dirty="0">
                <a:solidFill>
                  <a:schemeClr val="accent4">
                    <a:lumMod val="60000"/>
                    <a:lumOff val="40000"/>
                  </a:schemeClr>
                </a:solidFill>
              </a:rPr>
              <a:t>An </a:t>
            </a:r>
            <a:r>
              <a:rPr lang="en-IN" b="1" dirty="0">
                <a:solidFill>
                  <a:schemeClr val="accent4">
                    <a:lumMod val="60000"/>
                    <a:lumOff val="40000"/>
                  </a:schemeClr>
                </a:solidFill>
              </a:rPr>
              <a:t>if-else-if ladder</a:t>
            </a:r>
            <a:r>
              <a:rPr lang="en-IN" dirty="0">
                <a:solidFill>
                  <a:schemeClr val="accent4">
                    <a:lumMod val="60000"/>
                    <a:lumOff val="40000"/>
                  </a:schemeClr>
                </a:solidFill>
              </a:rPr>
              <a:t> is a conditional structure used to check </a:t>
            </a:r>
            <a:r>
              <a:rPr lang="en-IN" b="1" dirty="0">
                <a:solidFill>
                  <a:schemeClr val="accent4">
                    <a:lumMod val="60000"/>
                    <a:lumOff val="40000"/>
                  </a:schemeClr>
                </a:solidFill>
              </a:rPr>
              <a:t>multiple conditions</a:t>
            </a:r>
            <a:r>
              <a:rPr lang="en-IN" dirty="0">
                <a:solidFill>
                  <a:schemeClr val="accent4">
                    <a:lumMod val="60000"/>
                    <a:lumOff val="40000"/>
                  </a:schemeClr>
                </a:solidFill>
              </a:rPr>
              <a:t> one after another.</a:t>
            </a:r>
          </a:p>
          <a:p>
            <a:r>
              <a:rPr lang="en-IN" dirty="0">
                <a:solidFill>
                  <a:schemeClr val="accent4">
                    <a:lumMod val="60000"/>
                    <a:lumOff val="40000"/>
                  </a:schemeClr>
                </a:solidFill>
              </a:rPr>
              <a:t>If the first condition is true, its block executes. </a:t>
            </a:r>
          </a:p>
          <a:p>
            <a:r>
              <a:rPr lang="en-IN" dirty="0">
                <a:solidFill>
                  <a:schemeClr val="accent4">
                    <a:lumMod val="60000"/>
                    <a:lumOff val="40000"/>
                  </a:schemeClr>
                </a:solidFill>
              </a:rPr>
              <a:t>Otherwise, the next else if condition is checked. </a:t>
            </a:r>
          </a:p>
          <a:p>
            <a:r>
              <a:rPr lang="en-IN" dirty="0">
                <a:solidFill>
                  <a:schemeClr val="accent4">
                    <a:lumMod val="60000"/>
                    <a:lumOff val="40000"/>
                  </a:schemeClr>
                </a:solidFill>
              </a:rPr>
              <a:t>If none of the conditions are true, the else block executes. </a:t>
            </a:r>
          </a:p>
          <a:p>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44. What is the difference between if and switch?</a:t>
            </a:r>
            <a:endParaRPr lang="en-US" dirty="0"/>
          </a:p>
          <a:p>
            <a:r>
              <a:rPr lang="en-IN" b="1" dirty="0">
                <a:solidFill>
                  <a:schemeClr val="accent4">
                    <a:lumMod val="60000"/>
                    <a:lumOff val="40000"/>
                  </a:schemeClr>
                </a:solidFill>
              </a:rPr>
              <a:t>The if statement is used to test complex conditions and ranges, while the switch statement is used to select one block of code from multiple constant choices. if is more flexible, whereas switch is more organized for many fixed options.</a:t>
            </a:r>
            <a:endParaRPr lang="en-IN" dirty="0">
              <a:solidFill>
                <a:schemeClr val="accent4">
                  <a:lumMod val="60000"/>
                  <a:lumOff val="40000"/>
                </a:schemeClr>
              </a:solidFill>
            </a:endParaRPr>
          </a:p>
          <a:p>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45. Can switch use ranges directly?</a:t>
            </a:r>
            <a:endParaRPr lang="en-US" dirty="0"/>
          </a:p>
          <a:p>
            <a:r>
              <a:rPr lang="en-IN" b="1" dirty="0">
                <a:solidFill>
                  <a:schemeClr val="accent4">
                    <a:lumMod val="60000"/>
                    <a:lumOff val="40000"/>
                  </a:schemeClr>
                </a:solidFill>
              </a:rPr>
              <a:t>No</a:t>
            </a:r>
            <a:r>
              <a:rPr lang="en-IN" dirty="0">
                <a:solidFill>
                  <a:schemeClr val="accent4">
                    <a:lumMod val="60000"/>
                    <a:lumOff val="40000"/>
                  </a:schemeClr>
                </a:solidFill>
              </a:rPr>
              <a:t>, a switch statement in C/C++ cannot directly use ranges such as 1-10 or 50-100.</a:t>
            </a:r>
          </a:p>
          <a:p>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46. What is fall-through in switch?</a:t>
            </a:r>
            <a:endParaRPr lang="en-US" dirty="0"/>
          </a:p>
          <a:p>
            <a:r>
              <a:rPr lang="en-IN" b="1" dirty="0">
                <a:solidFill>
                  <a:schemeClr val="accent4">
                    <a:lumMod val="60000"/>
                    <a:lumOff val="40000"/>
                  </a:schemeClr>
                </a:solidFill>
              </a:rPr>
              <a:t>Fall-through</a:t>
            </a:r>
            <a:r>
              <a:rPr lang="en-IN" dirty="0">
                <a:solidFill>
                  <a:schemeClr val="accent4">
                    <a:lumMod val="60000"/>
                    <a:lumOff val="40000"/>
                  </a:schemeClr>
                </a:solidFill>
              </a:rPr>
              <a:t> occurs when a case in a switch statement does </a:t>
            </a:r>
            <a:r>
              <a:rPr lang="en-IN" b="1" dirty="0">
                <a:solidFill>
                  <a:schemeClr val="accent4">
                    <a:lumMod val="60000"/>
                    <a:lumOff val="40000"/>
                  </a:schemeClr>
                </a:solidFill>
              </a:rPr>
              <a:t>not have a break statement</a:t>
            </a:r>
            <a:r>
              <a:rPr lang="en-IN" dirty="0">
                <a:solidFill>
                  <a:schemeClr val="accent4">
                    <a:lumMod val="60000"/>
                    <a:lumOff val="40000"/>
                  </a:schemeClr>
                </a:solidFill>
              </a:rPr>
              <a:t>. The program continues executing the next case(s) even if their labels do not match.</a:t>
            </a:r>
          </a:p>
          <a:p>
            <a:endParaRPr dirty="0">
              <a:solidFill>
                <a:schemeClr val="accent4">
                  <a:lumMod val="60000"/>
                  <a:lumOff val="40000"/>
                </a:schemeClr>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47. What data type is usually used for conditions?</a:t>
            </a:r>
            <a:endParaRPr lang="en-US" dirty="0"/>
          </a:p>
          <a:p>
            <a:r>
              <a:rPr lang="en-IN" dirty="0">
                <a:solidFill>
                  <a:schemeClr val="accent4">
                    <a:lumMod val="60000"/>
                    <a:lumOff val="40000"/>
                  </a:schemeClr>
                </a:solidFill>
              </a:rPr>
              <a:t>The </a:t>
            </a:r>
            <a:r>
              <a:rPr lang="en-IN" b="1" dirty="0">
                <a:solidFill>
                  <a:schemeClr val="accent4">
                    <a:lumMod val="60000"/>
                    <a:lumOff val="40000"/>
                  </a:schemeClr>
                </a:solidFill>
              </a:rPr>
              <a:t>Boolean (bool)</a:t>
            </a:r>
            <a:r>
              <a:rPr lang="en-IN" dirty="0">
                <a:solidFill>
                  <a:schemeClr val="accent4">
                    <a:lumMod val="60000"/>
                    <a:lumOff val="40000"/>
                  </a:schemeClr>
                </a:solidFill>
              </a:rPr>
              <a:t> data type is usually used for conditions in C++.</a:t>
            </a:r>
          </a:p>
          <a:p>
            <a:r>
              <a:rPr lang="en-IN" dirty="0">
                <a:solidFill>
                  <a:schemeClr val="accent4">
                    <a:lumMod val="60000"/>
                    <a:lumOff val="40000"/>
                  </a:schemeClr>
                </a:solidFill>
              </a:rPr>
              <a:t>A Boolean value can have only two values:</a:t>
            </a:r>
          </a:p>
          <a:p>
            <a:r>
              <a:rPr lang="en-IN" dirty="0">
                <a:solidFill>
                  <a:schemeClr val="accent4">
                    <a:lumMod val="60000"/>
                    <a:lumOff val="40000"/>
                  </a:schemeClr>
                </a:solidFill>
              </a:rPr>
              <a:t>true </a:t>
            </a:r>
          </a:p>
          <a:p>
            <a:r>
              <a:rPr lang="en-IN" dirty="0">
                <a:solidFill>
                  <a:schemeClr val="accent4">
                    <a:lumMod val="60000"/>
                    <a:lumOff val="40000"/>
                  </a:schemeClr>
                </a:solidFill>
              </a:rPr>
              <a:t>false </a:t>
            </a:r>
          </a:p>
          <a:p>
            <a:endParaRPr dirty="0">
              <a:solidFill>
                <a:schemeClr val="accent4">
                  <a:lumMod val="60000"/>
                  <a:lumOff val="40000"/>
                </a:scheme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48. Why are conditional statements important?</a:t>
            </a:r>
            <a:endParaRPr lang="en-US" dirty="0"/>
          </a:p>
          <a:p>
            <a:r>
              <a:rPr lang="en-IN" dirty="0">
                <a:solidFill>
                  <a:schemeClr val="accent4">
                    <a:lumMod val="60000"/>
                    <a:lumOff val="40000"/>
                  </a:schemeClr>
                </a:solidFill>
              </a:rPr>
              <a:t>Conditional statements are important because they allow a program to </a:t>
            </a:r>
            <a:r>
              <a:rPr lang="en-IN" b="1" dirty="0">
                <a:solidFill>
                  <a:schemeClr val="accent4">
                    <a:lumMod val="60000"/>
                    <a:lumOff val="40000"/>
                  </a:schemeClr>
                </a:solidFill>
              </a:rPr>
              <a:t>make decisions</a:t>
            </a:r>
            <a:r>
              <a:rPr lang="en-IN" dirty="0">
                <a:solidFill>
                  <a:schemeClr val="accent4">
                    <a:lumMod val="60000"/>
                    <a:lumOff val="40000"/>
                  </a:schemeClr>
                </a:solidFill>
              </a:rPr>
              <a:t> and perform different actions based on different conditions.</a:t>
            </a:r>
          </a:p>
          <a:p>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t>49. Give one real-life example of a conditional statement.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a:t>
            </a:r>
          </a:p>
        </p:txBody>
      </p:sp>
      <p:sp>
        <p:nvSpPr>
          <p:cNvPr id="3" name="Content Placeholder 2"/>
          <p:cNvSpPr>
            <a:spLocks noGrp="1"/>
          </p:cNvSpPr>
          <p:nvPr>
            <p:ph idx="1"/>
          </p:nvPr>
        </p:nvSpPr>
        <p:spPr/>
        <p:txBody>
          <a:bodyPr/>
          <a:lstStyle/>
          <a:p>
            <a:r>
              <a:rPr dirty="0"/>
              <a:t>50. Name four conditional structures covered</a:t>
            </a:r>
            <a:r>
              <a:rPr lang="en-US" dirty="0"/>
              <a:t>.</a:t>
            </a:r>
            <a:r>
              <a:rPr dirty="0"/>
              <a:t> </a:t>
            </a:r>
            <a:endParaRPr lang="en-US" dirty="0"/>
          </a:p>
          <a:p>
            <a:r>
              <a:rPr lang="en-IN" b="1" dirty="0">
                <a:solidFill>
                  <a:schemeClr val="accent4">
                    <a:lumMod val="60000"/>
                    <a:lumOff val="40000"/>
                  </a:schemeClr>
                </a:solidFill>
              </a:rPr>
              <a:t>The four conditional structures covered in C/C++ are:</a:t>
            </a:r>
            <a:endParaRPr lang="en-IN" dirty="0">
              <a:solidFill>
                <a:schemeClr val="accent4">
                  <a:lumMod val="60000"/>
                  <a:lumOff val="40000"/>
                </a:schemeClr>
              </a:solidFill>
            </a:endParaRPr>
          </a:p>
          <a:p>
            <a:r>
              <a:rPr lang="en-IN" dirty="0">
                <a:solidFill>
                  <a:schemeClr val="accent4">
                    <a:lumMod val="60000"/>
                    <a:lumOff val="40000"/>
                  </a:schemeClr>
                </a:solidFill>
              </a:rPr>
              <a:t>Simple if </a:t>
            </a:r>
          </a:p>
          <a:p>
            <a:r>
              <a:rPr lang="en-IN" dirty="0">
                <a:solidFill>
                  <a:schemeClr val="accent4">
                    <a:lumMod val="60000"/>
                    <a:lumOff val="40000"/>
                  </a:schemeClr>
                </a:solidFill>
              </a:rPr>
              <a:t>if-else </a:t>
            </a:r>
          </a:p>
          <a:p>
            <a:r>
              <a:rPr lang="en-IN" dirty="0">
                <a:solidFill>
                  <a:schemeClr val="accent4">
                    <a:lumMod val="60000"/>
                    <a:lumOff val="40000"/>
                  </a:schemeClr>
                </a:solidFill>
              </a:rPr>
              <a:t>if-else-if ladder </a:t>
            </a:r>
          </a:p>
          <a:p>
            <a:r>
              <a:rPr lang="en-IN" dirty="0">
                <a:solidFill>
                  <a:schemeClr val="accent4">
                    <a:lumMod val="60000"/>
                    <a:lumOff val="40000"/>
                  </a:schemeClr>
                </a:solidFill>
              </a:rPr>
              <a:t>switch statement </a:t>
            </a:r>
          </a:p>
          <a:p>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58</TotalTime>
  <Words>1648</Words>
  <Application>Microsoft Office PowerPoint</Application>
  <PresentationFormat>On-screen Show (4:3)</PresentationFormat>
  <Paragraphs>218</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lpstr>Question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dc:title>
  <dc:subject/>
  <dc:creator/>
  <cp:keywords/>
  <dc:description>generated using python-pptx</dc:description>
  <cp:lastModifiedBy>arjungupta7457@gmail.com</cp:lastModifiedBy>
  <cp:revision>6</cp:revision>
  <dcterms:created xsi:type="dcterms:W3CDTF">2013-01-27T09:14:16Z</dcterms:created>
  <dcterms:modified xsi:type="dcterms:W3CDTF">2026-06-16T16:52:42Z</dcterms:modified>
  <cp:category/>
</cp:coreProperties>
</file>